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aved By Zero" charset="1" panose="000004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 Light" charset="1" panose="000004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tu.be/rohiO0TWdQc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6818" t="0" r="-681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7754997"/>
            <a:ext cx="16230600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625122" y="2375005"/>
            <a:ext cx="7037756" cy="176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7124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Saved By Zero"/>
                <a:ea typeface="Saved By Zero"/>
                <a:cs typeface="Saved By Zero"/>
                <a:sym typeface="Saved By Zero"/>
              </a:rPr>
              <a:t>MEDHA MEDITHON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1889" y="2481727"/>
            <a:ext cx="1541745" cy="49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3767">
                <a:solidFill>
                  <a:srgbClr val="5170FF"/>
                </a:solidFill>
                <a:latin typeface="Saved By Zero"/>
                <a:ea typeface="Saved By Zero"/>
                <a:cs typeface="Saved By Zero"/>
                <a:sym typeface="Saved By Zero"/>
              </a:rPr>
              <a:t>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3415" y="4130152"/>
            <a:ext cx="12741170" cy="45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Transforming Healthcare Through Collaborative Innovation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13769"/>
            <a:ext cx="16230600" cy="70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  <a:spcBef>
                <a:spcPct val="0"/>
              </a:spcBef>
            </a:pPr>
            <a:r>
              <a:rPr lang="en-US" b="true" sz="3896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SAFEX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791099"/>
            <a:ext cx="16230600" cy="6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Problem Statement: CCTV-Based Fire Safety Compliance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11135"/>
            <a:ext cx="16230600" cy="6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2800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Solution title: SAFEX AI — continuous fire-safety compliance from the cameras a hospital already has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6560" y="8275320"/>
            <a:ext cx="4754880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Arya Dhanule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3040" y="8275320"/>
            <a:ext cx="4754880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Vineet Shah | Team Lead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0080" y="8275320"/>
            <a:ext cx="4754880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Meet Agrawal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14800" y="8887968"/>
            <a:ext cx="4754880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Mohammad Ejaz Mehendi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0012" y="9424652"/>
            <a:ext cx="1449288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312952" y="-167366"/>
            <a:ext cx="18634505" cy="2196967"/>
            <a:chOff x="0" y="0"/>
            <a:chExt cx="6495688" cy="7658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5688" cy="765827"/>
            </a:xfrm>
            <a:custGeom>
              <a:avLst/>
              <a:gdLst/>
              <a:ahLst/>
              <a:cxnLst/>
              <a:rect r="r" b="b" t="t" l="l"/>
              <a:pathLst>
                <a:path h="765827" w="6495688">
                  <a:moveTo>
                    <a:pt x="4986" y="0"/>
                  </a:moveTo>
                  <a:lnTo>
                    <a:pt x="6490703" y="0"/>
                  </a:lnTo>
                  <a:cubicBezTo>
                    <a:pt x="6493456" y="0"/>
                    <a:pt x="6495688" y="2232"/>
                    <a:pt x="6495688" y="4986"/>
                  </a:cubicBezTo>
                  <a:lnTo>
                    <a:pt x="6495688" y="760842"/>
                  </a:lnTo>
                  <a:cubicBezTo>
                    <a:pt x="6495688" y="763595"/>
                    <a:pt x="6493456" y="765827"/>
                    <a:pt x="6490703" y="765827"/>
                  </a:cubicBezTo>
                  <a:lnTo>
                    <a:pt x="4986" y="765827"/>
                  </a:lnTo>
                  <a:cubicBezTo>
                    <a:pt x="2232" y="765827"/>
                    <a:pt x="0" y="763595"/>
                    <a:pt x="0" y="760842"/>
                  </a:cubicBezTo>
                  <a:lnTo>
                    <a:pt x="0" y="4986"/>
                  </a:lnTo>
                  <a:cubicBezTo>
                    <a:pt x="0" y="2232"/>
                    <a:pt x="2232" y="0"/>
                    <a:pt x="4986" y="0"/>
                  </a:cubicBezTo>
                  <a:close/>
                </a:path>
              </a:pathLst>
            </a:custGeom>
            <a:solidFill>
              <a:srgbClr val="F2F2F2">
                <a:alpha val="6078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495688" cy="803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69291"/>
            <a:ext cx="16230600" cy="1139598"/>
            <a:chOff x="0" y="0"/>
            <a:chExt cx="21640800" cy="15194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256209" y="42647"/>
              <a:ext cx="1434171" cy="1434171"/>
            </a:xfrm>
            <a:custGeom>
              <a:avLst/>
              <a:gdLst/>
              <a:ahLst/>
              <a:cxnLst/>
              <a:rect r="r" b="b" t="t" l="l"/>
              <a:pathLst>
                <a:path h="1434171" w="1434171">
                  <a:moveTo>
                    <a:pt x="0" y="0"/>
                  </a:moveTo>
                  <a:lnTo>
                    <a:pt x="1434170" y="0"/>
                  </a:lnTo>
                  <a:lnTo>
                    <a:pt x="1434170" y="1434170"/>
                  </a:lnTo>
                  <a:lnTo>
                    <a:pt x="0" y="1434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7025"/>
              <a:ext cx="5492284" cy="1485413"/>
            </a:xfrm>
            <a:custGeom>
              <a:avLst/>
              <a:gdLst/>
              <a:ahLst/>
              <a:cxnLst/>
              <a:rect r="r" b="b" t="t" l="l"/>
              <a:pathLst>
                <a:path h="1485413" w="5492284">
                  <a:moveTo>
                    <a:pt x="0" y="0"/>
                  </a:moveTo>
                  <a:lnTo>
                    <a:pt x="5492284" y="0"/>
                  </a:lnTo>
                  <a:lnTo>
                    <a:pt x="5492284" y="1485414"/>
                  </a:lnTo>
                  <a:lnTo>
                    <a:pt x="0" y="1485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54" t="0" r="-12452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454304" y="42221"/>
              <a:ext cx="2712199" cy="1435023"/>
            </a:xfrm>
            <a:custGeom>
              <a:avLst/>
              <a:gdLst/>
              <a:ahLst/>
              <a:cxnLst/>
              <a:rect r="r" b="b" t="t" l="l"/>
              <a:pathLst>
                <a:path h="1435023" w="2712199">
                  <a:moveTo>
                    <a:pt x="0" y="0"/>
                  </a:moveTo>
                  <a:lnTo>
                    <a:pt x="2712198" y="0"/>
                  </a:lnTo>
                  <a:lnTo>
                    <a:pt x="2712198" y="1435023"/>
                  </a:lnTo>
                  <a:lnTo>
                    <a:pt x="0" y="1435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916" r="0" b="-15283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939084" y="0"/>
              <a:ext cx="1477977" cy="1519464"/>
            </a:xfrm>
            <a:custGeom>
              <a:avLst/>
              <a:gdLst/>
              <a:ahLst/>
              <a:cxnLst/>
              <a:rect r="r" b="b" t="t" l="l"/>
              <a:pathLst>
                <a:path h="1519464" w="1477977">
                  <a:moveTo>
                    <a:pt x="0" y="0"/>
                  </a:moveTo>
                  <a:lnTo>
                    <a:pt x="1477977" y="0"/>
                  </a:lnTo>
                  <a:lnTo>
                    <a:pt x="1477977" y="1519464"/>
                  </a:lnTo>
                  <a:lnTo>
                    <a:pt x="0" y="1519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930427" y="71742"/>
              <a:ext cx="3244732" cy="1375980"/>
            </a:xfrm>
            <a:custGeom>
              <a:avLst/>
              <a:gdLst/>
              <a:ahLst/>
              <a:cxnLst/>
              <a:rect r="r" b="b" t="t" l="l"/>
              <a:pathLst>
                <a:path h="1375980" w="3244732">
                  <a:moveTo>
                    <a:pt x="0" y="0"/>
                  </a:moveTo>
                  <a:lnTo>
                    <a:pt x="3244732" y="0"/>
                  </a:lnTo>
                  <a:lnTo>
                    <a:pt x="3244732" y="1375980"/>
                  </a:lnTo>
                  <a:lnTo>
                    <a:pt x="0" y="13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740" t="-56518" r="-17528" b="-46396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180985" y="447445"/>
              <a:ext cx="3459815" cy="624575"/>
            </a:xfrm>
            <a:custGeom>
              <a:avLst/>
              <a:gdLst/>
              <a:ahLst/>
              <a:cxnLst/>
              <a:rect r="r" b="b" t="t" l="l"/>
              <a:pathLst>
                <a:path h="624575" w="3459815">
                  <a:moveTo>
                    <a:pt x="0" y="0"/>
                  </a:moveTo>
                  <a:lnTo>
                    <a:pt x="3459815" y="0"/>
                  </a:lnTo>
                  <a:lnTo>
                    <a:pt x="3459815" y="624574"/>
                  </a:lnTo>
                  <a:lnTo>
                    <a:pt x="0" y="624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09760" y="8887968"/>
            <a:ext cx="4754880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Vaishnavi Banait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3485"/>
            <a:ext cx="13519547" cy="550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hospital fire is not a building problem — it is a patient-movement problem.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ICU, theatre and ward patients cannot self-evacuate; staff must move them through corridors that have to be clear.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failures that kill are mundane: a trolley parked in the escape route, a fire door wedged open, an extinguisher borrowed and never returned.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Detectors are reactive. They tell you something is burning; none of them checks whether the building is still ready for it.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Compliance is verified at periodic inspection — a corridor blocked on Monday is found in the quarterly audit, if at all.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Paper checklists leave no evidence an inspector can trust and no record of how long a violation stood.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12681"/>
            <a:ext cx="6326743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Domain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30251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3485"/>
            <a:ext cx="16276320" cy="481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SAFEX AI — a compliance layer on the CCTV a hospital already owns.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Continuously verifies four things detectors cannot: escape routes clear, fire doors closed, extinguishers present and reachable, exit signs lit.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Detects flame and smoke on the same feeds — flame is called on the first frame it appears in.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innovation: two independent readings per corridor — what the model can name, plus anything that appeared and stayed. Debris no classifier knows is still caught.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False alarms are engineered out: nothing is a violation until it persists, and a person can never be read as smoke.</a:t>
            </a:r>
          </a:p>
          <a:p>
            <a:pPr algn="l" lvl="1">
              <a:lnSpc>
                <a:spcPts val="5455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Findings arrive on a Tuesday afternoon, when they can still be fixed — not during an evacuation.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12681"/>
            <a:ext cx="8688864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Proposed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34567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3485"/>
            <a:ext cx="16276320" cy="550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Existing CCTV in → fusion engine → compliance, alerts, evacuation, audit record out.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Inputs: RTSP / IP / USB cameras, a phone or browser camera, an IoT sensor mesh, and fire-door contact switches.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Vision: YOLOv8 flame / smoke / person; MOG2 background modelling for unknown obstructions; reference-image matching for doors and assets.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Geometry: four clicks map each camera onto the floor plan, turning “41% obstructed” into “5.0 m of 8.4 m clear”.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Engine: 5 Hz fusion into one hazard score per room, then incidents, spoken alerts and hazard-aware A* evacuation that descends the stair cores.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Outputs: live dashboard, compliance report, hash-chained audit log, and advisory-only automated actions.</a:t>
            </a:r>
          </a:p>
          <a:p>
            <a:pPr algn="l" lvl="1">
              <a:lnSpc>
                <a:spcPts val="5455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Stack: Python, FastAPI, OpenCV, Ultralytics. No GPU, no database, no cloud — one command on a laptop.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12681"/>
            <a:ext cx="8688864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47366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3485"/>
            <a:ext cx="16276320" cy="481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Already built and measured — this is a working system, not a concept.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Runs on a laptop CPU: 24.5 FPS video with detection alongside it; a fire reaches CRITICAL with routes re-planned in 0.6 s.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Deploys on the cameras already installed — no new hardware, no GPU, no cloud, no database.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Risk — false alarms: measured. A face plus webcam noise used to read as smoke on 6 of 6 frames; it is now 0 of 10.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Risk — lighting and camera drift: handled by per-pixel background modelling and a scene-change guard that says “camera view changed” instead of “corridor blocked”.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Risk — blind spots: rooms with no camera and uncalibrated assets are printed in the report rather than quietly omitted.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Regulatory: certified alarm panels, detectors and sprinklers are never actuated, silenced or delayed. SAFEX drives only its own fail-safe advisory devices.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12681"/>
            <a:ext cx="8688864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Feasibility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47068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3485"/>
            <a:ext cx="16276320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did not prototype a demo — we shipped and measured a platform.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 capability in the brief is implemented end to end and verified with numbers we can reproduce live.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Deep computer-vision work: detection, background modelling, reference matching and camera-to-plan homography — not an API call.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Safety-engineering judgement: we treat a false alarm as a defect, gate every finding on persistence, and refuse to touch certified life-safety equipment.</a:t>
            </a:r>
          </a:p>
          <a:p>
            <a:pPr algn="l" marL="841242" indent="-420621" lvl="1">
              <a:lnSpc>
                <a:spcPts val="5455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document what the system cannot do as carefully as what it can — the quality an inspector actually needs from a monitoring vendor.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12681"/>
            <a:ext cx="8688864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Our Team?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49152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12681"/>
            <a:ext cx="11228864" cy="108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004AAD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Prototype/Solution Video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29753"/>
            <a:ext cx="17259300" cy="481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2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YouTube Link (unlisted): [PASTE YOUR LINK HERE]</a:t>
            </a:r>
          </a:p>
          <a:p>
            <a:pPr algn="l" marL="1682485" indent="-560828">
              <a:lnSpc>
                <a:spcPts val="5455"/>
              </a:lnSpc>
              <a:buFont typeface="Arial"/>
              <a:buChar char="⚬"/>
            </a:pPr>
            <a:r>
              <a:rPr lang="en-US" sz="2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/ code repository: [PASTE YOUR GITHUB LINK HERE]</a:t>
            </a:r>
          </a:p>
          <a:p>
            <a:pPr algn="l" marL="1682485" indent="-560828">
              <a:lnSpc>
                <a:spcPts val="5455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it yourself: pip install -r requirements.txt, then python run.py</a:t>
            </a:r>
          </a:p>
          <a:p>
            <a:pPr algn="l">
              <a:lnSpc>
                <a:spcPts val="5455"/>
              </a:lnSpc>
            </a:pPr>
            <a:r>
              <a:rPr lang="en-US" sz="2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demo shows, in order:</a:t>
            </a:r>
          </a:p>
          <a:p>
            <a:pPr algn="l" lvl="1">
              <a:lnSpc>
                <a:spcPts val="5455"/>
              </a:lnSpc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youtu.be/rohiO0TWdQc"/>
              </a:rPr>
              <a:t>A three-storey hospital — 42 rooms, two stair cores, cameras on every floor.</a:t>
            </a:r>
          </a:p>
          <a:p>
            <a:pPr algn="l" lvl="1">
              <a:lnSpc>
                <a:spcPts val="5455"/>
              </a:lnSpc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youtu.be/rohiO0TWdQc"/>
              </a:rPr>
              <a:t>A kitchen fire on Level 2: CRITICAL in 0.6 s, incident opened, alert spoken, evacuation routed down Stair A to the assembly point.</a:t>
            </a:r>
          </a:p>
          <a:p>
            <a:pPr algn="l" lvl="1">
              <a:lnSpc>
                <a:spcPts val="5455"/>
              </a:lnSpc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youtu.be/rohiO0TWdQc"/>
              </a:rPr>
              <a:t>Compliance while it burns: blocked corridor, fire door held open, extinguisher access obstructed — score drops to 79.3.</a:t>
            </a:r>
          </a:p>
          <a:p>
            <a:pPr algn="l" lvl="1">
              <a:lnSpc>
                <a:spcPts val="5455"/>
              </a:lnSpc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youtu.be/rohiO0TWdQc"/>
              </a:rPr>
              <a:t>An automated action fired, and the fire panel refused by design.</a:t>
            </a:r>
          </a:p>
          <a:p>
            <a:pPr algn="l" lvl="1">
              <a:lnSpc>
                <a:spcPts val="5455"/>
              </a:lnSpc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youtu.be/rohiO0TWdQc"/>
              </a:rPr>
              <a:t>The compliance report, and an audit record proven intact after tampering.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3252" y="-90138"/>
            <a:ext cx="18634505" cy="1403375"/>
            <a:chOff x="0" y="0"/>
            <a:chExt cx="24846006" cy="18711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46006" cy="1871167"/>
              <a:chOff x="0" y="0"/>
              <a:chExt cx="6495688" cy="4891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95688" cy="489194"/>
              </a:xfrm>
              <a:custGeom>
                <a:avLst/>
                <a:gdLst/>
                <a:ahLst/>
                <a:cxnLst/>
                <a:rect r="r" b="b" t="t" l="l"/>
                <a:pathLst>
                  <a:path h="489194" w="6495688">
                    <a:moveTo>
                      <a:pt x="2542" y="0"/>
                    </a:moveTo>
                    <a:lnTo>
                      <a:pt x="6493146" y="0"/>
                    </a:lnTo>
                    <a:cubicBezTo>
                      <a:pt x="6494550" y="0"/>
                      <a:pt x="6495688" y="1138"/>
                      <a:pt x="6495688" y="2542"/>
                    </a:cubicBezTo>
                    <a:lnTo>
                      <a:pt x="6495688" y="486652"/>
                    </a:lnTo>
                    <a:cubicBezTo>
                      <a:pt x="6495688" y="487326"/>
                      <a:pt x="6495420" y="487973"/>
                      <a:pt x="6494943" y="488449"/>
                    </a:cubicBezTo>
                    <a:cubicBezTo>
                      <a:pt x="6494467" y="488926"/>
                      <a:pt x="6493820" y="489194"/>
                      <a:pt x="6493146" y="489194"/>
                    </a:cubicBezTo>
                    <a:lnTo>
                      <a:pt x="2542" y="489194"/>
                    </a:lnTo>
                    <a:cubicBezTo>
                      <a:pt x="1138" y="489194"/>
                      <a:pt x="0" y="488056"/>
                      <a:pt x="0" y="486652"/>
                    </a:cubicBezTo>
                    <a:lnTo>
                      <a:pt x="0" y="2542"/>
                    </a:lnTo>
                    <a:cubicBezTo>
                      <a:pt x="0" y="1138"/>
                      <a:pt x="1138" y="0"/>
                      <a:pt x="254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95688" cy="527294"/>
              </a:xfrm>
              <a:prstGeom prst="rect">
                <a:avLst/>
              </a:prstGeom>
            </p:spPr>
            <p:txBody>
              <a:bodyPr anchor="ctr" rtlCol="false" tIns="99639" lIns="99639" bIns="99639" rIns="9963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02603" y="515168"/>
              <a:ext cx="4066095" cy="103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</a:pPr>
              <a:r>
                <a:rPr lang="en-US" sz="3087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95285" y="578730"/>
              <a:ext cx="890750" cy="30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63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66963" y="456100"/>
              <a:ext cx="958968" cy="958968"/>
            </a:xfrm>
            <a:custGeom>
              <a:avLst/>
              <a:gdLst/>
              <a:ahLst/>
              <a:cxnLst/>
              <a:rect r="r" b="b" t="t" l="l"/>
              <a:pathLst>
                <a:path h="958968" w="958968">
                  <a:moveTo>
                    <a:pt x="0" y="0"/>
                  </a:moveTo>
                  <a:lnTo>
                    <a:pt x="958968" y="0"/>
                  </a:lnTo>
                  <a:lnTo>
                    <a:pt x="958968" y="958967"/>
                  </a:lnTo>
                  <a:lnTo>
                    <a:pt x="0" y="95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551034" y="438968"/>
              <a:ext cx="3672453" cy="993232"/>
            </a:xfrm>
            <a:custGeom>
              <a:avLst/>
              <a:gdLst/>
              <a:ahLst/>
              <a:cxnLst/>
              <a:rect r="r" b="b" t="t" l="l"/>
              <a:pathLst>
                <a:path h="993232" w="3672453">
                  <a:moveTo>
                    <a:pt x="0" y="0"/>
                  </a:moveTo>
                  <a:lnTo>
                    <a:pt x="3672454" y="0"/>
                  </a:lnTo>
                  <a:lnTo>
                    <a:pt x="3672454" y="993231"/>
                  </a:lnTo>
                  <a:lnTo>
                    <a:pt x="0" y="9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54" t="0" r="-1245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069407" y="455815"/>
              <a:ext cx="1813530" cy="959538"/>
            </a:xfrm>
            <a:custGeom>
              <a:avLst/>
              <a:gdLst/>
              <a:ahLst/>
              <a:cxnLst/>
              <a:rect r="r" b="b" t="t" l="l"/>
              <a:pathLst>
                <a:path h="959538" w="1813530">
                  <a:moveTo>
                    <a:pt x="0" y="0"/>
                  </a:moveTo>
                  <a:lnTo>
                    <a:pt x="1813530" y="0"/>
                  </a:lnTo>
                  <a:lnTo>
                    <a:pt x="1813530" y="959537"/>
                  </a:lnTo>
                  <a:lnTo>
                    <a:pt x="0" y="95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916" r="0" b="-152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39502" y="427583"/>
              <a:ext cx="988259" cy="1016000"/>
            </a:xfrm>
            <a:custGeom>
              <a:avLst/>
              <a:gdLst/>
              <a:ahLst/>
              <a:cxnLst/>
              <a:rect r="r" b="b" t="t" l="l"/>
              <a:pathLst>
                <a:path h="1016000" w="988259">
                  <a:moveTo>
                    <a:pt x="0" y="0"/>
                  </a:moveTo>
                  <a:lnTo>
                    <a:pt x="988259" y="0"/>
                  </a:lnTo>
                  <a:lnTo>
                    <a:pt x="98825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26413" y="475554"/>
              <a:ext cx="2169612" cy="920059"/>
            </a:xfrm>
            <a:custGeom>
              <a:avLst/>
              <a:gdLst/>
              <a:ahLst/>
              <a:cxnLst/>
              <a:rect r="r" b="b" t="t" l="l"/>
              <a:pathLst>
                <a:path h="920059" w="2169612">
                  <a:moveTo>
                    <a:pt x="0" y="0"/>
                  </a:moveTo>
                  <a:lnTo>
                    <a:pt x="2169613" y="0"/>
                  </a:lnTo>
                  <a:lnTo>
                    <a:pt x="2169613" y="920059"/>
                  </a:lnTo>
                  <a:lnTo>
                    <a:pt x="0" y="9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740" t="-56518" r="-17528" b="-4639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71237" y="726770"/>
              <a:ext cx="2313429" cy="417626"/>
            </a:xfrm>
            <a:custGeom>
              <a:avLst/>
              <a:gdLst/>
              <a:ahLst/>
              <a:cxnLst/>
              <a:rect r="r" b="b" t="t" l="l"/>
              <a:pathLst>
                <a:path h="417626" w="2313429">
                  <a:moveTo>
                    <a:pt x="0" y="0"/>
                  </a:moveTo>
                  <a:lnTo>
                    <a:pt x="2313429" y="0"/>
                  </a:lnTo>
                  <a:lnTo>
                    <a:pt x="2313429" y="417627"/>
                  </a:lnTo>
                  <a:lnTo>
                    <a:pt x="0" y="41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>
              <a:off x="5856898" y="438968"/>
              <a:ext cx="0" cy="1075230"/>
            </a:xfrm>
            <a:prstGeom prst="line">
              <a:avLst/>
            </a:prstGeom>
            <a:ln cap="flat" w="25900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0012" y="9424652"/>
            <a:ext cx="1521023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3500"/>
              </a:srgbClr>
            </a:gs>
            <a:gs pos="50000">
              <a:srgbClr val="004AAD">
                <a:alpha val="0"/>
              </a:srgbClr>
            </a:gs>
            <a:gs pos="100000">
              <a:srgbClr val="004AAD">
                <a:alpha val="15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5700" y="6941229"/>
            <a:ext cx="18955751" cy="5781504"/>
          </a:xfrm>
          <a:custGeom>
            <a:avLst/>
            <a:gdLst/>
            <a:ahLst/>
            <a:cxnLst/>
            <a:rect r="r" b="b" t="t" l="l"/>
            <a:pathLst>
              <a:path h="5781504" w="18955751">
                <a:moveTo>
                  <a:pt x="0" y="0"/>
                </a:moveTo>
                <a:lnTo>
                  <a:pt x="18955751" y="0"/>
                </a:lnTo>
                <a:lnTo>
                  <a:pt x="18955751" y="5781504"/>
                </a:lnTo>
                <a:lnTo>
                  <a:pt x="0" y="5781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20875"/>
            <a:ext cx="5701258" cy="149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6"/>
              </a:lnSpc>
              <a:spcBef>
                <a:spcPct val="0"/>
              </a:spcBef>
            </a:pPr>
            <a:r>
              <a:rPr lang="en-US" sz="824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857790" y="3673910"/>
            <a:ext cx="7401510" cy="2024901"/>
            <a:chOff x="0" y="0"/>
            <a:chExt cx="9868679" cy="26998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9868679" cy="2528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68"/>
                </a:lnSpc>
              </a:pPr>
              <a:r>
                <a:rPr lang="en-US" sz="7493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Saved By Zero"/>
                  <a:ea typeface="Saved By Zero"/>
                  <a:cs typeface="Saved By Zero"/>
                  <a:sym typeface="Saved By Zero"/>
                </a:rPr>
                <a:t>MEDHA MEDITHON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020729" y="365109"/>
              <a:ext cx="2161908" cy="709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5"/>
                </a:lnSpc>
              </a:pPr>
              <a:r>
                <a:rPr lang="en-US" sz="3962">
                  <a:solidFill>
                    <a:srgbClr val="5170FF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312952" y="-167366"/>
            <a:ext cx="18634505" cy="2343175"/>
            <a:chOff x="0" y="0"/>
            <a:chExt cx="6495688" cy="8167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95688" cy="816793"/>
            </a:xfrm>
            <a:custGeom>
              <a:avLst/>
              <a:gdLst/>
              <a:ahLst/>
              <a:cxnLst/>
              <a:rect r="r" b="b" t="t" l="l"/>
              <a:pathLst>
                <a:path h="816793" w="6495688">
                  <a:moveTo>
                    <a:pt x="4986" y="0"/>
                  </a:moveTo>
                  <a:lnTo>
                    <a:pt x="6490703" y="0"/>
                  </a:lnTo>
                  <a:cubicBezTo>
                    <a:pt x="6493456" y="0"/>
                    <a:pt x="6495688" y="2232"/>
                    <a:pt x="6495688" y="4986"/>
                  </a:cubicBezTo>
                  <a:lnTo>
                    <a:pt x="6495688" y="811808"/>
                  </a:lnTo>
                  <a:cubicBezTo>
                    <a:pt x="6495688" y="813130"/>
                    <a:pt x="6495163" y="814398"/>
                    <a:pt x="6494228" y="815333"/>
                  </a:cubicBezTo>
                  <a:cubicBezTo>
                    <a:pt x="6493293" y="816268"/>
                    <a:pt x="6492025" y="816793"/>
                    <a:pt x="6490703" y="816793"/>
                  </a:cubicBezTo>
                  <a:lnTo>
                    <a:pt x="4986" y="816793"/>
                  </a:lnTo>
                  <a:cubicBezTo>
                    <a:pt x="2232" y="816793"/>
                    <a:pt x="0" y="814561"/>
                    <a:pt x="0" y="811808"/>
                  </a:cubicBezTo>
                  <a:lnTo>
                    <a:pt x="0" y="4986"/>
                  </a:lnTo>
                  <a:cubicBezTo>
                    <a:pt x="0" y="2232"/>
                    <a:pt x="2232" y="0"/>
                    <a:pt x="4986" y="0"/>
                  </a:cubicBezTo>
                  <a:close/>
                </a:path>
              </a:pathLst>
            </a:custGeom>
            <a:solidFill>
              <a:srgbClr val="F2F2F2">
                <a:alpha val="6078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95688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20857" y="601276"/>
            <a:ext cx="1075628" cy="1075628"/>
          </a:xfrm>
          <a:custGeom>
            <a:avLst/>
            <a:gdLst/>
            <a:ahLst/>
            <a:cxnLst/>
            <a:rect r="r" b="b" t="t" l="l"/>
            <a:pathLst>
              <a:path h="1075628" w="1075628">
                <a:moveTo>
                  <a:pt x="0" y="0"/>
                </a:moveTo>
                <a:lnTo>
                  <a:pt x="1075627" y="0"/>
                </a:lnTo>
                <a:lnTo>
                  <a:pt x="1075627" y="1075628"/>
                </a:lnTo>
                <a:lnTo>
                  <a:pt x="0" y="1075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82060"/>
            <a:ext cx="4119213" cy="1114060"/>
          </a:xfrm>
          <a:custGeom>
            <a:avLst/>
            <a:gdLst/>
            <a:ahLst/>
            <a:cxnLst/>
            <a:rect r="r" b="b" t="t" l="l"/>
            <a:pathLst>
              <a:path h="1114060" w="4119213">
                <a:moveTo>
                  <a:pt x="0" y="0"/>
                </a:moveTo>
                <a:lnTo>
                  <a:pt x="4119213" y="0"/>
                </a:lnTo>
                <a:lnTo>
                  <a:pt x="4119213" y="1114060"/>
                </a:lnTo>
                <a:lnTo>
                  <a:pt x="0" y="1114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54" t="0" r="-12452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69428" y="600956"/>
            <a:ext cx="2034149" cy="1076267"/>
          </a:xfrm>
          <a:custGeom>
            <a:avLst/>
            <a:gdLst/>
            <a:ahLst/>
            <a:cxnLst/>
            <a:rect r="r" b="b" t="t" l="l"/>
            <a:pathLst>
              <a:path h="1076267" w="2034149">
                <a:moveTo>
                  <a:pt x="0" y="0"/>
                </a:moveTo>
                <a:lnTo>
                  <a:pt x="2034149" y="0"/>
                </a:lnTo>
                <a:lnTo>
                  <a:pt x="2034149" y="1076267"/>
                </a:lnTo>
                <a:lnTo>
                  <a:pt x="0" y="1076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916" r="0" b="-1528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83013" y="569291"/>
            <a:ext cx="1108483" cy="1139598"/>
          </a:xfrm>
          <a:custGeom>
            <a:avLst/>
            <a:gdLst/>
            <a:ahLst/>
            <a:cxnLst/>
            <a:rect r="r" b="b" t="t" l="l"/>
            <a:pathLst>
              <a:path h="1139598" w="1108483">
                <a:moveTo>
                  <a:pt x="0" y="0"/>
                </a:moveTo>
                <a:lnTo>
                  <a:pt x="1108483" y="0"/>
                </a:lnTo>
                <a:lnTo>
                  <a:pt x="1108483" y="1139598"/>
                </a:lnTo>
                <a:lnTo>
                  <a:pt x="0" y="11395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76520" y="623097"/>
            <a:ext cx="2433549" cy="1031985"/>
          </a:xfrm>
          <a:custGeom>
            <a:avLst/>
            <a:gdLst/>
            <a:ahLst/>
            <a:cxnLst/>
            <a:rect r="r" b="b" t="t" l="l"/>
            <a:pathLst>
              <a:path h="1031985" w="2433549">
                <a:moveTo>
                  <a:pt x="0" y="0"/>
                </a:moveTo>
                <a:lnTo>
                  <a:pt x="2433549" y="0"/>
                </a:lnTo>
                <a:lnTo>
                  <a:pt x="2433549" y="1031985"/>
                </a:lnTo>
                <a:lnTo>
                  <a:pt x="0" y="10319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40" t="-56518" r="-17528" b="-4639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64439" y="904874"/>
            <a:ext cx="2594861" cy="468431"/>
          </a:xfrm>
          <a:custGeom>
            <a:avLst/>
            <a:gdLst/>
            <a:ahLst/>
            <a:cxnLst/>
            <a:rect r="r" b="b" t="t" l="l"/>
            <a:pathLst>
              <a:path h="468431" w="2594861">
                <a:moveTo>
                  <a:pt x="0" y="0"/>
                </a:moveTo>
                <a:lnTo>
                  <a:pt x="2594861" y="0"/>
                </a:lnTo>
                <a:lnTo>
                  <a:pt x="2594861" y="468431"/>
                </a:lnTo>
                <a:lnTo>
                  <a:pt x="0" y="468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810012" y="9424652"/>
            <a:ext cx="1547961" cy="4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Slide No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DAHSwMdJy6E</dc:identifier>
  <dcterms:modified xsi:type="dcterms:W3CDTF">2011-08-01T06:04:30Z</dcterms:modified>
  <cp:revision>1</cp:revision>
  <dc:title>Medithon - Stage 2 Slide Template</dc:title>
</cp:coreProperties>
</file>